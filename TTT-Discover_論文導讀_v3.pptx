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0926" y="1460463"/>
            <a:ext cx="6349841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4DABF7"/>
                </a:solidFill>
                <a:latin typeface="Ink Free"/>
                <a:ea typeface="Microsoft JhengHei"/>
              </a:rPr>
              <a:t>ARXIV: 2601.16175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69968" y="1777955"/>
            <a:ext cx="9651758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600" b="1">
                <a:solidFill>
                  <a:srgbClr val="1971C2"/>
                </a:solidFill>
                <a:latin typeface="Ink Free"/>
                <a:ea typeface="Microsoft JhengHei"/>
              </a:rPr>
              <a:t>Learning to Discover at Test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9968" y="3111422"/>
            <a:ext cx="9651758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>
                <a:solidFill>
                  <a:srgbClr val="4DABF7"/>
                </a:solidFill>
                <a:latin typeface="Ink Free"/>
                <a:ea typeface="Microsoft JhengHei"/>
              </a:rPr>
              <a:t>Yuksekgonul, Koceja, Li, Bianchi, McCaleb, Wang, Kautz, Choi, Zou, Guestrin, Sun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0926" y="3492412"/>
            <a:ext cx="1269968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1971C2"/>
                </a:solidFill>
                <a:latin typeface="Ink Free"/>
                <a:ea typeface="Microsoft JhengHei"/>
              </a:rPr>
              <a:t>NVIDIA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7891" y="3492412"/>
            <a:ext cx="1269968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1971C2"/>
                </a:solidFill>
                <a:latin typeface="Ink Free"/>
                <a:ea typeface="Microsoft JhengHei"/>
              </a:rPr>
              <a:t>Stanford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4857" y="3492412"/>
            <a:ext cx="1269968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1971C2"/>
                </a:solidFill>
                <a:latin typeface="Ink Free"/>
                <a:ea typeface="Microsoft JhengHei"/>
              </a:rPr>
              <a:t>AI2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1822" y="3492412"/>
            <a:ext cx="1269968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>
                <a:solidFill>
                  <a:srgbClr val="1971C2"/>
                </a:solidFill>
                <a:latin typeface="Ink Free"/>
                <a:ea typeface="Microsoft JhengHei"/>
              </a:rPr>
              <a:t>UW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4984" y="1777955"/>
            <a:ext cx="10921726" cy="761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i="1">
                <a:solidFill>
                  <a:srgbClr val="1864AB"/>
                </a:solidFill>
                <a:latin typeface="Ink Free"/>
                <a:ea typeface="Microsoft JhengHei"/>
              </a:rPr>
              <a:t>“What if LLMs could </a:t>
            </a:r>
            <a:r>
              <a:rPr sz="3600" b="1" i="1">
                <a:solidFill>
                  <a:srgbClr val="1864AB"/>
                </a:solidFill>
                <a:latin typeface="Ink Free"/>
                <a:ea typeface="Microsoft JhengHei"/>
              </a:rPr>
              <a:t>improve themselves</a:t>
            </a:r>
            <a:r>
              <a:rPr sz="3600" i="1">
                <a:solidFill>
                  <a:srgbClr val="1864AB"/>
                </a:solidFill>
                <a:latin typeface="Ink Free"/>
                <a:ea typeface="Microsoft JhengHei"/>
              </a:rPr>
              <a:t> on each new problem — discovering solutions no human has found?”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8977" y="2793930"/>
            <a:ext cx="10413739" cy="8889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>
                <a:solidFill>
                  <a:srgbClr val="1864AB"/>
                </a:solidFill>
                <a:latin typeface="Ink Free"/>
                <a:ea typeface="Microsoft JhengHei"/>
              </a:rPr>
              <a:t>Frozen LLMs are limited by their training data. Repeated sampling generates many candidates but doesn’t </a:t>
            </a:r>
            <a:r>
              <a:rPr sz="2600" i="1">
                <a:solidFill>
                  <a:srgbClr val="1864AB"/>
                </a:solidFill>
                <a:latin typeface="Ink Free"/>
                <a:ea typeface="Microsoft JhengHei"/>
              </a:rPr>
              <a:t>learn</a:t>
            </a:r>
            <a:r>
              <a:rPr sz="2600">
                <a:solidFill>
                  <a:srgbClr val="1864AB"/>
                </a:solidFill>
                <a:latin typeface="Ink Free"/>
                <a:ea typeface="Microsoft JhengHei"/>
              </a:rPr>
              <a:t>. TTT-Discover applies </a:t>
            </a:r>
            <a:r>
              <a:rPr sz="2600" b="1">
                <a:solidFill>
                  <a:srgbClr val="1864AB"/>
                </a:solidFill>
                <a:latin typeface="Ink Free"/>
                <a:ea typeface="Microsoft JhengHei"/>
              </a:rPr>
              <a:t>reinforcement learning at test time</a:t>
            </a:r>
            <a:r>
              <a:rPr sz="2600">
                <a:solidFill>
                  <a:srgbClr val="1864AB"/>
                </a:solidFill>
                <a:latin typeface="Ink Free"/>
                <a:ea typeface="Microsoft JhengHei"/>
              </a:rPr>
              <a:t> — the model adapts its weights per-problem to find exceptional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0958" y="349241"/>
            <a:ext cx="8889777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TTT-Discover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1015974"/>
            <a:ext cx="2666933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1</a:t>
            </a:r>
          </a:p>
          <a:p>
            <a:pPr algn="ctr"/>
            <a:r>
              <a:rPr sz="3000" i="1">
                <a:solidFill>
                  <a:srgbClr val="1864AB"/>
                </a:solidFill>
                <a:latin typeface="Ink Free"/>
                <a:ea typeface="Microsoft JhengHei"/>
              </a:rPr>
              <a:t>Sample</a:t>
            </a:r>
          </a:p>
          <a:p>
            <a:pPr algn="ctr"/>
            <a:r>
              <a:rPr sz="2200">
                <a:solidFill>
                  <a:srgbClr val="4DABF7"/>
                </a:solidFill>
                <a:latin typeface="Ink Free"/>
                <a:ea typeface="Microsoft JhengHei"/>
              </a:rPr>
              <a:t>Generate candidate solutions from current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74920" y="1015974"/>
            <a:ext cx="2666933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2</a:t>
            </a:r>
          </a:p>
          <a:p>
            <a:pPr algn="ctr"/>
            <a:r>
              <a:rPr sz="3000" i="1">
                <a:solidFill>
                  <a:srgbClr val="1864AB"/>
                </a:solidFill>
                <a:latin typeface="Ink Free"/>
                <a:ea typeface="Microsoft JhengHei"/>
              </a:rPr>
              <a:t>Evaluate</a:t>
            </a:r>
          </a:p>
          <a:p>
            <a:pPr algn="ctr"/>
            <a:r>
              <a:rPr sz="2200">
                <a:solidFill>
                  <a:srgbClr val="4DABF7"/>
                </a:solidFill>
                <a:latin typeface="Ink Free"/>
                <a:ea typeface="Microsoft JhengHei"/>
              </a:rPr>
              <a:t>Score via entropic discovery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68850" y="1015974"/>
            <a:ext cx="2666933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3</a:t>
            </a:r>
          </a:p>
          <a:p>
            <a:pPr algn="ctr"/>
            <a:r>
              <a:rPr sz="3000" i="1">
                <a:solidFill>
                  <a:srgbClr val="1864AB"/>
                </a:solidFill>
                <a:latin typeface="Ink Free"/>
                <a:ea typeface="Microsoft JhengHei"/>
              </a:rPr>
              <a:t>Update</a:t>
            </a:r>
          </a:p>
          <a:p>
            <a:pPr algn="ctr"/>
            <a:r>
              <a:rPr sz="2200">
                <a:solidFill>
                  <a:srgbClr val="4DABF7"/>
                </a:solidFill>
                <a:latin typeface="Ink Free"/>
                <a:ea typeface="Microsoft JhengHei"/>
              </a:rPr>
              <a:t>RL fine-tune model weights on this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2780" y="1015974"/>
            <a:ext cx="2666933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600" b="1">
                <a:solidFill>
                  <a:srgbClr val="1971C2"/>
                </a:solidFill>
                <a:latin typeface="Ink Free"/>
                <a:ea typeface="Microsoft JhengHei"/>
              </a:rPr>
              <a:t>4</a:t>
            </a:r>
          </a:p>
          <a:p>
            <a:pPr algn="ctr"/>
            <a:r>
              <a:rPr sz="3000" i="1">
                <a:solidFill>
                  <a:srgbClr val="1864AB"/>
                </a:solidFill>
                <a:latin typeface="Ink Free"/>
                <a:ea typeface="Microsoft JhengHei"/>
              </a:rPr>
              <a:t>Iterate</a:t>
            </a:r>
          </a:p>
          <a:p>
            <a:pPr algn="ctr"/>
            <a:r>
              <a:rPr sz="2200">
                <a:solidFill>
                  <a:srgbClr val="4DABF7"/>
                </a:solidFill>
                <a:latin typeface="Ink Free"/>
                <a:ea typeface="Microsoft JhengHei"/>
              </a:rPr>
              <a:t>Repeat with PUCT tree reuse across rounds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74" y="2666933"/>
            <a:ext cx="10159745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1864AB"/>
                </a:solidFill>
                <a:latin typeface="Ink Free"/>
                <a:ea typeface="Microsoft JhengHei"/>
              </a:rPr>
              <a:t>Key insight: </a:t>
            </a:r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Model weights are updated </a:t>
            </a:r>
            <a:r>
              <a:rPr sz="2400" i="1">
                <a:solidFill>
                  <a:srgbClr val="1864AB"/>
                </a:solidFill>
                <a:latin typeface="Ink Free"/>
                <a:ea typeface="Microsoft JhengHei"/>
              </a:rPr>
              <a:t>per problem</a:t>
            </a:r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 — unlike best-of-N which uses a frozen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0958" y="266693"/>
            <a:ext cx="8889777" cy="44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000" b="1" i="1">
                <a:solidFill>
                  <a:srgbClr val="1971C2"/>
                </a:solidFill>
                <a:latin typeface="Ink Free"/>
                <a:ea typeface="Microsoft JhengHei"/>
              </a:rPr>
              <a:t>Two Key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7987" y="825479"/>
            <a:ext cx="5397364" cy="4444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1">
                <a:solidFill>
                  <a:srgbClr val="1971C2"/>
                </a:solidFill>
                <a:latin typeface="Ink Free"/>
                <a:ea typeface="Microsoft JhengHei"/>
              </a:rPr>
              <a:t>Entropic Discovery Objective</a:t>
            </a:r>
          </a:p>
          <a:p>
            <a:pPr algn="l">
              <a:spcAft>
                <a:spcPts val="400"/>
              </a:spcAft>
            </a:pPr>
            <a:r>
              <a:rPr sz="1000">
                <a:latin typeface="Ink Free"/>
                <a:ea typeface="Microsoft JhengHei"/>
              </a:rPr>
              <a:t/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Rewards </a:t>
            </a:r>
            <a:r>
              <a:rPr sz="2400" b="1">
                <a:solidFill>
                  <a:srgbClr val="1864AB"/>
                </a:solidFill>
                <a:latin typeface="Ink Free"/>
                <a:ea typeface="Microsoft JhengHei"/>
              </a:rPr>
              <a:t>novel</a:t>
            </a:r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 solutions with low likelihood under current model</a:t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Prevents collapse to familiar patterns</a:t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Maximizes information gain through entropy-based scoring</a:t>
            </a:r>
          </a:p>
          <a:p>
            <a:pPr algn="l">
              <a:spcAft>
                <a:spcPts val="400"/>
              </a:spcAft>
            </a:pPr>
            <a:r>
              <a:rPr sz="1000">
                <a:latin typeface="Ink Free"/>
                <a:ea typeface="Microsoft JhengHei"/>
              </a:rPr>
              <a:t/>
            </a:r>
          </a:p>
          <a:p>
            <a:pPr algn="l"/>
            <a:r>
              <a:rPr sz="2000" i="1">
                <a:solidFill>
                  <a:srgbClr val="4DABF7"/>
                </a:solidFill>
                <a:latin typeface="Ink Free"/>
                <a:ea typeface="Microsoft JhengHei"/>
              </a:rPr>
              <a:t>Explores solution space instead of exploiting known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22844" y="825479"/>
            <a:ext cx="5397364" cy="4444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1">
                <a:solidFill>
                  <a:srgbClr val="1971C2"/>
                </a:solidFill>
                <a:latin typeface="Ink Free"/>
                <a:ea typeface="Microsoft JhengHei"/>
              </a:rPr>
              <a:t>PUCT Tree Reuse</a:t>
            </a:r>
          </a:p>
          <a:p>
            <a:pPr algn="l">
              <a:spcAft>
                <a:spcPts val="400"/>
              </a:spcAft>
            </a:pPr>
            <a:r>
              <a:rPr sz="1000">
                <a:latin typeface="Ink Free"/>
                <a:ea typeface="Microsoft JhengHei"/>
              </a:rPr>
              <a:t/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Maintains search tree statistics across RL iterations</a:t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Value estimates guide future exploration</a:t>
            </a:r>
          </a:p>
          <a:p>
            <a:pPr algn="l"/>
            <a:r>
              <a:rPr sz="2400">
                <a:solidFill>
                  <a:srgbClr val="1864AB"/>
                </a:solidFill>
                <a:latin typeface="Ink Free"/>
                <a:ea typeface="Microsoft JhengHei"/>
              </a:rPr>
              <a:t>Avoids recomputing the entire search space</a:t>
            </a:r>
          </a:p>
          <a:p>
            <a:pPr algn="l">
              <a:spcAft>
                <a:spcPts val="400"/>
              </a:spcAft>
            </a:pPr>
            <a:r>
              <a:rPr sz="1000">
                <a:latin typeface="Ink Free"/>
                <a:ea typeface="Microsoft JhengHei"/>
              </a:rPr>
              <a:t/>
            </a:r>
          </a:p>
          <a:p>
            <a:pPr algn="l"/>
            <a:r>
              <a:rPr sz="2000" i="1">
                <a:solidFill>
                  <a:srgbClr val="4DABF7"/>
                </a:solidFill>
                <a:latin typeface="Ink Free"/>
                <a:ea typeface="Microsoft JhengHei"/>
              </a:rPr>
              <a:t>Planning Upper Confidence bounds applied to Trees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55911" y="1777955"/>
            <a:ext cx="5079872" cy="8889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0">
                <a:solidFill>
                  <a:srgbClr val="C5DDF5"/>
                </a:solidFill>
                <a:latin typeface="Ink Free"/>
                <a:ea typeface="Microsoft JhengHei"/>
              </a:rPr>
              <a:t>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50958" y="2730431"/>
            <a:ext cx="8889777" cy="63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 i="1">
                <a:solidFill>
                  <a:srgbClr val="1971C2"/>
                </a:solidFill>
                <a:latin typeface="Ink Free"/>
                <a:ea typeface="Microsoft JhengHei"/>
              </a:rPr>
              <a:t>Experimental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42" y="3460663"/>
            <a:ext cx="7619809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>
                <a:solidFill>
                  <a:srgbClr val="4DABF7"/>
                </a:solidFill>
                <a:latin typeface="Ink Free"/>
                <a:ea typeface="Microsoft JhengHei"/>
              </a:rPr>
              <a:t>Mathematics, GPU Engineering, Algorithms, Biology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3434" y="1206469"/>
            <a:ext cx="6984825" cy="2539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4DABF7"/>
                </a:solidFill>
                <a:latin typeface="Ink Free"/>
                <a:ea typeface="Microsoft JhengHei"/>
              </a:rPr>
              <a:t>GPU KERNEL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5942" y="1523961"/>
            <a:ext cx="7619809" cy="12699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0" b="1">
                <a:solidFill>
                  <a:srgbClr val="1971C2"/>
                </a:solidFill>
                <a:latin typeface="Ink Free"/>
                <a:ea typeface="Microsoft JhengHei"/>
              </a:rPr>
              <a:t>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8450" y="2984425"/>
            <a:ext cx="8254793" cy="380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>
                <a:solidFill>
                  <a:srgbClr val="1864AB"/>
                </a:solidFill>
                <a:latin typeface="Ink Free"/>
                <a:ea typeface="Microsoft JhengHei"/>
              </a:rPr>
              <a:t>faster than previous best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8450" y="3555911"/>
            <a:ext cx="8254793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4DABF7"/>
                </a:solidFill>
                <a:latin typeface="Ink Free"/>
                <a:ea typeface="Microsoft JhengHei"/>
              </a:rPr>
              <a:t>GPUMode competition: TTT-Discover generated GPU kernels that outperformed hand-optimized and LLM-generated baselines by up to 2x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50958" y="317492"/>
            <a:ext cx="8889777" cy="44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600" b="1" i="1">
                <a:solidFill>
                  <a:srgbClr val="1971C2"/>
                </a:solidFill>
                <a:latin typeface="Ink Free"/>
                <a:ea typeface="Microsoft JhengHei"/>
              </a:rPr>
              <a:t>Detailed Results by Domain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488" y="857228"/>
            <a:ext cx="368290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1">
                <a:solidFill>
                  <a:srgbClr val="1864AB"/>
                </a:solidFill>
                <a:latin typeface="Ink Free"/>
                <a:ea typeface="Microsoft JhengHei"/>
              </a:rPr>
              <a:t>Mathematics</a:t>
            </a:r>
          </a:p>
          <a:p>
            <a:pPr algn="l">
              <a:spcAft>
                <a:spcPts val="200"/>
              </a:spcAft>
            </a:pPr>
            <a:r>
              <a:rPr sz="800">
                <a:latin typeface="Ink Free"/>
                <a:ea typeface="Microsoft JhengHei"/>
              </a:rPr>
              <a:t/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Erdős minimum overlap: improved known bounds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Autocorrelation inequality: new solutions discovered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Outperforms repeated sampling by large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54393" y="857228"/>
            <a:ext cx="368290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1">
                <a:solidFill>
                  <a:srgbClr val="1864AB"/>
                </a:solidFill>
                <a:latin typeface="Ink Free"/>
                <a:ea typeface="Microsoft JhengHei"/>
              </a:rPr>
              <a:t>AtCoder</a:t>
            </a:r>
          </a:p>
          <a:p>
            <a:pPr algn="l">
              <a:spcAft>
                <a:spcPts val="200"/>
              </a:spcAft>
            </a:pPr>
            <a:r>
              <a:rPr sz="800">
                <a:latin typeface="Ink Free"/>
                <a:ea typeface="Microsoft JhengHei"/>
              </a:rPr>
              <a:t/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Competitive programming optimization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Higher pass rates than best-of-N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Model </a:t>
            </a:r>
            <a:r>
              <a:rPr sz="2000" i="1">
                <a:solidFill>
                  <a:srgbClr val="1864AB"/>
                </a:solidFill>
                <a:latin typeface="Ink Free"/>
                <a:ea typeface="Microsoft JhengHei"/>
              </a:rPr>
              <a:t>learns</a:t>
            </a:r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 from failed attempts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4298" y="857228"/>
            <a:ext cx="3682907" cy="31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1">
                <a:solidFill>
                  <a:srgbClr val="1864AB"/>
                </a:solidFill>
                <a:latin typeface="Ink Free"/>
                <a:ea typeface="Microsoft JhengHei"/>
              </a:rPr>
              <a:t>Biology</a:t>
            </a:r>
          </a:p>
          <a:p>
            <a:pPr algn="l">
              <a:spcAft>
                <a:spcPts val="200"/>
              </a:spcAft>
            </a:pPr>
            <a:r>
              <a:rPr sz="800">
                <a:latin typeface="Ink Free"/>
                <a:ea typeface="Microsoft JhengHei"/>
              </a:rPr>
              <a:t/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Single-cell RNA denoising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SOTA on specialized benchmarks</a:t>
            </a:r>
          </a:p>
          <a:p>
            <a:pPr algn="l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Beats traditional &amp; learning baselines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4984" y="4508387"/>
            <a:ext cx="10921726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64AB"/>
                </a:solidFill>
                <a:latin typeface="Ink Free"/>
                <a:ea typeface="Microsoft JhengHei"/>
              </a:rPr>
              <a:t>Model: </a:t>
            </a:r>
            <a:r>
              <a:rPr sz="1800">
                <a:solidFill>
                  <a:srgbClr val="1864AB"/>
                </a:solidFill>
                <a:latin typeface="Ink Free"/>
                <a:ea typeface="Microsoft JhengHei"/>
              </a:rPr>
              <a:t>gpt-o3s-120b (open-source)  ·  </a:t>
            </a:r>
            <a:r>
              <a:rPr sz="1800" b="1">
                <a:solidFill>
                  <a:srgbClr val="1864AB"/>
                </a:solidFill>
                <a:latin typeface="Ink Free"/>
                <a:ea typeface="Microsoft JhengHei"/>
              </a:rPr>
              <a:t>Platform: </a:t>
            </a:r>
            <a:r>
              <a:rPr sz="1800">
                <a:solidFill>
                  <a:srgbClr val="1864AB"/>
                </a:solidFill>
                <a:latin typeface="Ink Free"/>
                <a:ea typeface="Microsoft JhengHei"/>
              </a:rPr>
              <a:t>Tinker API (Thinking Machines)  ·  </a:t>
            </a:r>
            <a:r>
              <a:rPr sz="1800" b="1">
                <a:solidFill>
                  <a:srgbClr val="1864AB"/>
                </a:solidFill>
                <a:latin typeface="Ink Free"/>
                <a:ea typeface="Microsoft JhengHei"/>
              </a:rPr>
              <a:t>Cost: </a:t>
            </a:r>
            <a:r>
              <a:rPr sz="1800">
                <a:solidFill>
                  <a:srgbClr val="1864AB"/>
                </a:solidFill>
                <a:latin typeface="Ink Free"/>
                <a:ea typeface="Microsoft JhengHei"/>
              </a:rPr>
              <a:t>~$100s per problem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15974" y="1777955"/>
            <a:ext cx="10159745" cy="1904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>
                <a:solidFill>
                  <a:srgbClr val="1864AB"/>
                </a:solidFill>
                <a:latin typeface="Ink Free"/>
                <a:ea typeface="Microsoft JhengHei"/>
              </a:rPr>
              <a:t>The best solution to a hard problem is found not by sampling more — but by </a:t>
            </a:r>
            <a:r>
              <a:rPr sz="6000" b="1">
                <a:solidFill>
                  <a:srgbClr val="1971C2"/>
                </a:solidFill>
                <a:latin typeface="Ink Free"/>
                <a:ea typeface="Microsoft JhengHei"/>
              </a:rPr>
              <a:t>learning to search better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0926" y="1523961"/>
            <a:ext cx="6349841" cy="7619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 i="1">
                <a:solidFill>
                  <a:srgbClr val="1971C2"/>
                </a:solidFill>
                <a:latin typeface="Ink Free"/>
                <a:ea typeface="Microsoft JhengHe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0926" y="2412939"/>
            <a:ext cx="6349841" cy="3174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>
                <a:solidFill>
                  <a:srgbClr val="4DABF7"/>
                </a:solidFill>
                <a:latin typeface="Ink Free"/>
                <a:ea typeface="Microsoft JhengHei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0926" y="2984425"/>
            <a:ext cx="6349841" cy="5079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Paper: arxiv.org/abs/2601.16175</a:t>
            </a:r>
          </a:p>
          <a:p>
            <a:pPr algn="ctr"/>
            <a:r>
              <a:rPr sz="2000">
                <a:solidFill>
                  <a:srgbClr val="1864AB"/>
                </a:solidFill>
                <a:latin typeface="Ink Free"/>
                <a:ea typeface="Microsoft JhengHei"/>
              </a:rPr>
              <a:t>Code: github.com/mert-yuksekgonul/ttt-discover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