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5974" y="1650958"/>
            <a:ext cx="10159745" cy="1269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200" b="1">
                <a:solidFill>
                  <a:srgbClr val="1971C2"/>
                </a:solidFill>
                <a:latin typeface="Ink Free"/>
                <a:ea typeface="Microsoft JhengHei"/>
              </a:rPr>
              <a:t>Learning to (TTT-)Discover at Test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50958" y="3111422"/>
            <a:ext cx="8889777" cy="3809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>
                <a:solidFill>
                  <a:srgbClr val="495057"/>
                </a:solidFill>
                <a:latin typeface="Ink Free"/>
                <a:ea typeface="Microsoft JhengHei"/>
              </a:rPr>
              <a:t>Yuksekgonul, Koceja, Li, Bianchi, McCaleb, Wang, Kautz, Choi, Zou, Guestrin, Sun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0926" y="3619409"/>
            <a:ext cx="6349841" cy="3174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>
                <a:solidFill>
                  <a:srgbClr val="495057"/>
                </a:solidFill>
                <a:latin typeface="Ink Free"/>
                <a:ea typeface="Microsoft JhengHei"/>
              </a:rPr>
              <a:t>NVIDIA · Stanford · AI2 · UW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90895" y="4127396"/>
            <a:ext cx="3809904" cy="2539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>
                <a:solidFill>
                  <a:srgbClr val="495057"/>
                </a:solidFill>
                <a:latin typeface="Ink Free"/>
                <a:ea typeface="Microsoft JhengHei"/>
              </a:rPr>
              <a:t>arXiv: 2601.16175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7987" y="507987"/>
            <a:ext cx="5714857" cy="63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600" b="1">
                <a:solidFill>
                  <a:srgbClr val="1971C2"/>
                </a:solidFill>
                <a:latin typeface="Ink Free"/>
                <a:ea typeface="Microsoft JhengHe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7987" y="1396965"/>
            <a:ext cx="5714857" cy="38099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3000">
                <a:latin typeface="Ink Free"/>
                <a:ea typeface="Microsoft JhengHei"/>
              </a:rPr>
              <a:t>Frozen LLMs are limited by training data</a:t>
            </a:r>
          </a:p>
          <a:p>
            <a:pPr algn="l">
              <a:spcAft>
                <a:spcPts val="1200"/>
              </a:spcAft>
            </a:pPr>
            <a:r>
              <a:rPr sz="3000">
                <a:latin typeface="Ink Free"/>
                <a:ea typeface="Microsoft JhengHei"/>
              </a:rPr>
              <a:t>Repeated sampling generates candidates but doesn't learn</a:t>
            </a:r>
          </a:p>
          <a:p>
            <a:pPr algn="l"/>
            <a:r>
              <a:rPr sz="3000" b="1">
                <a:solidFill>
                  <a:srgbClr val="1971C2"/>
                </a:solidFill>
                <a:latin typeface="Ink Free"/>
                <a:ea typeface="Microsoft JhengHei"/>
              </a:rPr>
              <a:t>TTT-Discover: RL at test time — model adapts weights per-problem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667333" y="952476"/>
            <a:ext cx="4952876" cy="4444888"/>
          </a:xfrm>
          <a:prstGeom prst="rect">
            <a:avLst/>
          </a:prstGeom>
          <a:solidFill>
            <a:srgbClr val="D0EBFF">
              <a:alpha val="25000"/>
            </a:srgbClr>
          </a:solidFill>
          <a:ln w="19050">
            <a:solidFill>
              <a:srgbClr val="1971C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/>
              <a:t>🧠
</a:t>
            </a:r>
          </a:p>
          <a:p>
            <a:pPr algn="ctr"/>
            <a:r>
              <a:rPr sz="1800">
                <a:solidFill>
                  <a:srgbClr val="868E96"/>
                </a:solidFill>
                <a:latin typeface="Ink Free"/>
              </a:rPr>
              <a:t>[Insert: Frozen vs Adaptive model diagram]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5974" y="317492"/>
            <a:ext cx="10159745" cy="63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600" b="1">
                <a:solidFill>
                  <a:srgbClr val="2F9E44"/>
                </a:solidFill>
                <a:latin typeface="Ink Free"/>
                <a:ea typeface="Microsoft JhengHei"/>
              </a:rPr>
              <a:t>TTT-Discover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5974" y="1269968"/>
            <a:ext cx="2412939" cy="2539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2F9E44"/>
                </a:solidFill>
                <a:latin typeface="Ink Free"/>
                <a:ea typeface="Microsoft JhengHei"/>
              </a:rPr>
              <a:t>1. Sample</a:t>
            </a:r>
          </a:p>
          <a:p>
            <a:pPr algn="ctr"/>
            <a:r>
              <a:rPr sz="2200">
                <a:solidFill>
                  <a:srgbClr val="495057"/>
                </a:solidFill>
                <a:latin typeface="Ink Free"/>
                <a:ea typeface="Microsoft JhengHei"/>
              </a:rPr>
              <a:t>Generate candidates from current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19409" y="1269968"/>
            <a:ext cx="2412939" cy="2539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2F9E44"/>
                </a:solidFill>
                <a:latin typeface="Ink Free"/>
                <a:ea typeface="Microsoft JhengHei"/>
              </a:rPr>
              <a:t>2. Evaluate</a:t>
            </a:r>
          </a:p>
          <a:p>
            <a:pPr algn="ctr"/>
            <a:r>
              <a:rPr sz="2200">
                <a:solidFill>
                  <a:srgbClr val="495057"/>
                </a:solidFill>
                <a:latin typeface="Ink Free"/>
                <a:ea typeface="Microsoft JhengHei"/>
              </a:rPr>
              <a:t>Score via entropic discovery 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22844" y="1269968"/>
            <a:ext cx="2412939" cy="2539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2F9E44"/>
                </a:solidFill>
                <a:latin typeface="Ink Free"/>
                <a:ea typeface="Microsoft JhengHei"/>
              </a:rPr>
              <a:t>3. Update</a:t>
            </a:r>
          </a:p>
          <a:p>
            <a:pPr algn="ctr"/>
            <a:r>
              <a:rPr sz="2200">
                <a:solidFill>
                  <a:srgbClr val="495057"/>
                </a:solidFill>
                <a:latin typeface="Ink Free"/>
                <a:ea typeface="Microsoft JhengHei"/>
              </a:rPr>
              <a:t>RL fine-tune model weights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26279" y="1269968"/>
            <a:ext cx="2412939" cy="2539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2F9E44"/>
                </a:solidFill>
                <a:latin typeface="Ink Free"/>
                <a:ea typeface="Microsoft JhengHei"/>
              </a:rPr>
              <a:t>4. Iterate</a:t>
            </a:r>
          </a:p>
          <a:p>
            <a:pPr algn="ctr"/>
            <a:r>
              <a:rPr sz="2200">
                <a:solidFill>
                  <a:srgbClr val="495057"/>
                </a:solidFill>
                <a:latin typeface="Ink Free"/>
                <a:ea typeface="Microsoft JhengHei"/>
              </a:rPr>
              <a:t>Repeat with PUCT tree reuse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5974" y="5587860"/>
            <a:ext cx="10159745" cy="3809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>
                <a:solidFill>
                  <a:srgbClr val="495057"/>
                </a:solidFill>
                <a:latin typeface="Ink Free"/>
                <a:ea typeface="Microsoft JhengHei"/>
              </a:rPr>
              <a:t>Key: Model weights updated per problem — unlike best-of-N (frozen model)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5974" y="317492"/>
            <a:ext cx="10159745" cy="63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200" b="1">
                <a:solidFill>
                  <a:srgbClr val="7048E8"/>
                </a:solidFill>
                <a:latin typeface="Ink Free"/>
                <a:ea typeface="Microsoft JhengHei"/>
              </a:rPr>
              <a:t>Two Key Innovations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4984" y="1396965"/>
            <a:ext cx="4952876" cy="63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7048E8"/>
                </a:solidFill>
                <a:latin typeface="Ink Free"/>
                <a:ea typeface="Microsoft JhengHei"/>
              </a:rPr>
              <a:t>Entropic Discovery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4984" y="2222444"/>
            <a:ext cx="4952876" cy="3174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>
                <a:latin typeface="Ink Free"/>
                <a:ea typeface="Microsoft JhengHei"/>
              </a:rPr>
              <a:t>Rewards novel solutions with low likelihood</a:t>
            </a:r>
          </a:p>
          <a:p>
            <a:pPr algn="l">
              <a:spcAft>
                <a:spcPts val="1000"/>
              </a:spcAft>
            </a:pPr>
            <a:r>
              <a:rPr sz="2600">
                <a:latin typeface="Ink Free"/>
                <a:ea typeface="Microsoft JhengHei"/>
              </a:rPr>
              <a:t>Prevents collapse to familiar patterns</a:t>
            </a:r>
          </a:p>
          <a:p>
            <a:pPr algn="l"/>
            <a:r>
              <a:rPr sz="2600">
                <a:latin typeface="Ink Free"/>
                <a:ea typeface="Microsoft JhengHei"/>
              </a:rPr>
              <a:t>Maximizes information gain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4857" y="2730431"/>
            <a:ext cx="761980" cy="5079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7048E8"/>
                </a:solidFill>
                <a:latin typeface="Ink Free"/>
                <a:ea typeface="Microsoft JhengHei"/>
              </a:rPr>
              <a:t>vs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3834" y="1396965"/>
            <a:ext cx="4952876" cy="63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7048E8"/>
                </a:solidFill>
                <a:latin typeface="Ink Free"/>
                <a:ea typeface="Microsoft JhengHei"/>
              </a:rPr>
              <a:t>PUCT Tree Reuse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3834" y="2222444"/>
            <a:ext cx="4952876" cy="3174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>
                <a:latin typeface="Ink Free"/>
                <a:ea typeface="Microsoft JhengHei"/>
              </a:rPr>
              <a:t>Maintains search tree across RL iterations</a:t>
            </a:r>
          </a:p>
          <a:p>
            <a:pPr algn="l">
              <a:spcAft>
                <a:spcPts val="1000"/>
              </a:spcAft>
            </a:pPr>
            <a:r>
              <a:rPr sz="2600">
                <a:latin typeface="Ink Free"/>
                <a:ea typeface="Microsoft JhengHei"/>
              </a:rPr>
              <a:t>Value estimates guide future exploration</a:t>
            </a:r>
          </a:p>
          <a:p>
            <a:pPr algn="l"/>
            <a:r>
              <a:rPr sz="2600">
                <a:latin typeface="Ink Free"/>
                <a:ea typeface="Microsoft JhengHei"/>
              </a:rPr>
              <a:t>Avoids recomputing entire search space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20926" y="1269968"/>
            <a:ext cx="6349841" cy="11429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0">
                <a:solidFill>
                  <a:srgbClr val="FFE8CC"/>
                </a:solidFill>
                <a:latin typeface="Ink Free"/>
                <a:ea typeface="Microsoft JhengHe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50958" y="2539936"/>
            <a:ext cx="8889777" cy="7619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400" b="1">
                <a:latin typeface="Ink Free"/>
                <a:ea typeface="Microsoft JhengHei"/>
              </a:rPr>
              <a:t>Experimental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50958" y="3555911"/>
            <a:ext cx="8889777" cy="3809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>
                <a:solidFill>
                  <a:srgbClr val="495057"/>
                </a:solidFill>
                <a:latin typeface="Ink Free"/>
                <a:ea typeface="Microsoft JhengHei"/>
              </a:rPr>
              <a:t>Mathematics, GPU Engineering, Algorithms, Biology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5942" y="952476"/>
            <a:ext cx="7619809" cy="2222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0" b="1">
                <a:solidFill>
                  <a:srgbClr val="E8590C"/>
                </a:solidFill>
                <a:latin typeface="Ink Free"/>
                <a:ea typeface="Microsoft JhengHei"/>
              </a:rPr>
              <a:t>2×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8450" y="3301917"/>
            <a:ext cx="8254793" cy="5079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>
                <a:latin typeface="Ink Free"/>
                <a:ea typeface="Microsoft JhengHei"/>
              </a:rPr>
              <a:t>faster than previous best 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0926" y="4000399"/>
            <a:ext cx="6349841" cy="3174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>
                <a:solidFill>
                  <a:srgbClr val="495057"/>
                </a:solidFill>
                <a:latin typeface="Ink Free"/>
                <a:ea typeface="Microsoft JhengHei"/>
              </a:rPr>
              <a:t>GPU Kernel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50958" y="4698882"/>
            <a:ext cx="8889777" cy="5079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>
                <a:solidFill>
                  <a:srgbClr val="495057"/>
                </a:solidFill>
                <a:latin typeface="Ink Free"/>
                <a:ea typeface="Microsoft JhengHei"/>
              </a:rPr>
              <a:t>GPUMode competition: outperformed hand-optimized and LLM-generated baselines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5974" y="317492"/>
            <a:ext cx="10159745" cy="63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600" b="1">
                <a:solidFill>
                  <a:srgbClr val="0C8599"/>
                </a:solidFill>
                <a:latin typeface="Ink Free"/>
                <a:ea typeface="Microsoft JhengHei"/>
              </a:rPr>
              <a:t>Results by Domain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4984" y="1587460"/>
            <a:ext cx="3301917" cy="3174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0C8599"/>
                </a:solidFill>
                <a:latin typeface="Ink Free"/>
                <a:ea typeface="Microsoft JhengHei"/>
              </a:rPr>
              <a:t>📐 Mathematics</a:t>
            </a:r>
          </a:p>
          <a:p>
            <a:pPr algn="ctr">
              <a:spcBef>
                <a:spcPts val="1200"/>
              </a:spcBef>
            </a:pPr>
            <a:r>
              <a:rPr sz="2200">
                <a:solidFill>
                  <a:srgbClr val="495057"/>
                </a:solidFill>
                <a:latin typeface="Ink Free"/>
                <a:ea typeface="Microsoft JhengHei"/>
              </a:rPr>
              <a:t>Improved known bounds on Erdős minimum overlap</a:t>
            </a:r>
          </a:p>
          <a:p>
            <a:pPr algn="ctr"/>
            <a:r>
              <a:rPr sz="2200">
                <a:solidFill>
                  <a:srgbClr val="495057"/>
                </a:solidFill>
                <a:latin typeface="Ink Free"/>
                <a:ea typeface="Microsoft JhengHei"/>
              </a:rPr>
              <a:t>New autocorrelation solutions discovered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44888" y="1587460"/>
            <a:ext cx="3301917" cy="3174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0C8599"/>
                </a:solidFill>
                <a:latin typeface="Ink Free"/>
                <a:ea typeface="Microsoft JhengHei"/>
              </a:rPr>
              <a:t>💻 AtCoder</a:t>
            </a:r>
          </a:p>
          <a:p>
            <a:pPr algn="ctr">
              <a:spcBef>
                <a:spcPts val="1200"/>
              </a:spcBef>
            </a:pPr>
            <a:r>
              <a:rPr sz="2200">
                <a:solidFill>
                  <a:srgbClr val="495057"/>
                </a:solidFill>
                <a:latin typeface="Ink Free"/>
                <a:ea typeface="Microsoft JhengHei"/>
              </a:rPr>
              <a:t>Higher pass rates than best-of-N</a:t>
            </a:r>
          </a:p>
          <a:p>
            <a:pPr algn="ctr"/>
            <a:r>
              <a:rPr sz="2200">
                <a:solidFill>
                  <a:srgbClr val="495057"/>
                </a:solidFill>
                <a:latin typeface="Ink Free"/>
                <a:ea typeface="Microsoft JhengHei"/>
              </a:rPr>
              <a:t>Model learns from failed attempts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54793" y="1587460"/>
            <a:ext cx="3301917" cy="3174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0C8599"/>
                </a:solidFill>
                <a:latin typeface="Ink Free"/>
                <a:ea typeface="Microsoft JhengHei"/>
              </a:rPr>
              <a:t>🧬 Biology</a:t>
            </a:r>
          </a:p>
          <a:p>
            <a:pPr algn="ctr">
              <a:spcBef>
                <a:spcPts val="1200"/>
              </a:spcBef>
            </a:pPr>
            <a:r>
              <a:rPr sz="2200">
                <a:solidFill>
                  <a:srgbClr val="495057"/>
                </a:solidFill>
                <a:latin typeface="Ink Free"/>
                <a:ea typeface="Microsoft JhengHei"/>
              </a:rPr>
              <a:t>Single-cell RNA denoising</a:t>
            </a:r>
          </a:p>
          <a:p>
            <a:pPr algn="ctr"/>
            <a:r>
              <a:rPr sz="2200">
                <a:solidFill>
                  <a:srgbClr val="495057"/>
                </a:solidFill>
                <a:latin typeface="Ink Free"/>
                <a:ea typeface="Microsoft JhengHei"/>
              </a:rPr>
              <a:t>SOTA on specialized benchmarks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50958" y="5587860"/>
            <a:ext cx="8889777" cy="3174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>
                <a:solidFill>
                  <a:srgbClr val="495057"/>
                </a:solidFill>
                <a:latin typeface="Ink Free"/>
                <a:ea typeface="Microsoft JhengHei"/>
              </a:rPr>
              <a:t>Model: gpt-o3s-120b · Platform: Tinker API · Cost: ~$100s per problem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50958" y="507987"/>
            <a:ext cx="8889777" cy="5079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>
                <a:solidFill>
                  <a:srgbClr val="495057"/>
                </a:solidFill>
                <a:latin typeface="Ink Free"/>
                <a:ea typeface="Microsoft JhengHei"/>
              </a:rPr>
              <a:t>Key Insight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5942" y="1269968"/>
            <a:ext cx="7619809" cy="3492412"/>
          </a:xfrm>
          <a:prstGeom prst="rect">
            <a:avLst/>
          </a:prstGeom>
          <a:solidFill>
            <a:srgbClr val="FFE3E3">
              <a:alpha val="15000"/>
            </a:srgbClr>
          </a:solidFill>
          <a:ln w="19050">
            <a:solidFill>
              <a:srgbClr val="C92A2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/>
              <a:t>📈
</a:t>
            </a:r>
          </a:p>
          <a:p>
            <a:pPr algn="ctr"/>
            <a:r>
              <a:rPr sz="1800">
                <a:solidFill>
                  <a:srgbClr val="868E96"/>
                </a:solidFill>
                <a:latin typeface="Ink Free"/>
              </a:rPr>
              <a:t>[Rough.js concept: sampling plateau vs TTT-Discover growth]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50958" y="5079872"/>
            <a:ext cx="8889777" cy="3809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i="1">
                <a:latin typeface="Ink Free"/>
                <a:ea typeface="Microsoft JhengHei"/>
              </a:rPr>
              <a:t>The best solution is found not by sampling more — but by learning to search better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50958" y="1777955"/>
            <a:ext cx="8889777" cy="9524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0" b="1">
                <a:solidFill>
                  <a:srgbClr val="1971C2"/>
                </a:solidFill>
                <a:latin typeface="Ink Free"/>
                <a:ea typeface="Microsoft JhengHei"/>
              </a:rP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5942" y="2920926"/>
            <a:ext cx="7619809" cy="444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>
                <a:solidFill>
                  <a:srgbClr val="495057"/>
                </a:solidFill>
                <a:latin typeface="Ink Free"/>
                <a:ea typeface="Microsoft JhengHei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0926" y="3682907"/>
            <a:ext cx="6349841" cy="7619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>
                <a:solidFill>
                  <a:srgbClr val="495057"/>
                </a:solidFill>
                <a:latin typeface="Ink Free"/>
                <a:ea typeface="Microsoft JhengHei"/>
              </a:rPr>
              <a:t>Paper: arxiv.org/abs/2601.16175</a:t>
            </a:r>
          </a:p>
          <a:p>
            <a:pPr algn="ctr"/>
            <a:r>
              <a:rPr sz="2400">
                <a:solidFill>
                  <a:srgbClr val="495057"/>
                </a:solidFill>
                <a:latin typeface="Ink Free"/>
                <a:ea typeface="Microsoft JhengHei"/>
              </a:rPr>
              <a:t>Code: github.com/mert-yuksekgonul/ttt-discover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